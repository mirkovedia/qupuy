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Qupuy, en quechua, es dar a otro — y también pagar. Un portal de cursos donde el acceso es tuyo y, cuando terminas, lo pasas.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es exageración: Bolivia es el único país de Latinoamérica sin PayPal y MercadoPago no opera. Un profesor que graba su curso termina vendiendo por WhatsApp, cobrando por QR y mandando un Drive. Vende veinte y lo ven doscientos.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Unlock resuelve el cobro. Y su membresía es un objeto que el alumno posee: un NFT con vencimiento. Solo una persona lo tiene a la vez. Qupuy construye sobre 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Cualquiera ve la primera clase. Para el resto, la app le pregunta al contrato — getHasValidKey — y el contenido aparece si el contrato dice que sí. Las clases de pago ni siquiera viajan en la página.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Aquí está lo que ninguna plataforma permite. Regalar: definitivo. Prestar: tú sigues mandando, la otra persona no puede pasarlo, y lo recuperas cuando quieras. Es una función del protocolo, no una metáfora.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paso es un evento Transfer en el Lock. Udemy no sabe a quién le prestaste tu cuenta. Aquí la cadena completa es pública y verificable.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 personas juntas: una muestra su código, la otra lo escanea. Y la pantalla de quien recibe lo anuncia sola. Solo uno a la vez — visto, no contado.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Cero Solidity propio: el PublicLock v14 ya lo tiene todo. El acceso lo decide getHasValidKey — balanceOf cambió de semántica entre versiones; en v14 solo cuenta keys válidas. Lo verificamos en el código fuente de la versión desplegada.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Locks en Sepolia, dos compras y una transferencia reales, hecha escaneando un QR. Y un número para llevarse: el creador se queda con el 98 %.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 que sigue es conocido y pequeño: firma de wallet y URLs firmadas, panel del creador con retiro, mainnet. La idea no cambia.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Qupuy. Dar a otro; pagar. 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3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016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5448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0078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2024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9456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4086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8094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2102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6110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118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2064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9496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4126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6072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512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2142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4088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6150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8096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5528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0158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2104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9536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4166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6111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23544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8174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0119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875519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02182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24127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515599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661903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88135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155679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301983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52143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795759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942063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2161519" y="0"/>
            <a:ext cx="30175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qupuy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01 / 11</a:t>
            </a:r>
          </a:p>
        </p:txBody>
      </p:sp>
      <p:sp>
        <p:nvSpPr>
          <p:cNvPr id="62" name="Oval 61"/>
          <p:cNvSpPr/>
          <p:nvPr/>
        </p:nvSpPr>
        <p:spPr>
          <a:xfrm>
            <a:off x="731520" y="960120"/>
            <a:ext cx="457200" cy="457200"/>
          </a:xfrm>
          <a:prstGeom prst="ellipse">
            <a:avLst/>
          </a:prstGeom>
          <a:noFill/>
          <a:ln w="50800">
            <a:solidFill>
              <a:srgbClr val="D44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1188720" y="1188720"/>
            <a:ext cx="1417319" cy="0"/>
          </a:xfrm>
          <a:prstGeom prst="line">
            <a:avLst/>
          </a:prstGeom>
          <a:ln w="50800">
            <a:solidFill>
              <a:srgbClr val="D446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600200" y="1188720"/>
            <a:ext cx="0" cy="274320"/>
          </a:xfrm>
          <a:prstGeom prst="line">
            <a:avLst/>
          </a:prstGeom>
          <a:ln w="50800">
            <a:solidFill>
              <a:srgbClr val="D446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965960" y="1188720"/>
            <a:ext cx="0" cy="274320"/>
          </a:xfrm>
          <a:prstGeom prst="line">
            <a:avLst/>
          </a:prstGeom>
          <a:ln w="50800">
            <a:solidFill>
              <a:srgbClr val="D446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2359152" y="941832"/>
            <a:ext cx="246887" cy="246888"/>
          </a:xfrm>
          <a:prstGeom prst="line">
            <a:avLst/>
          </a:prstGeom>
          <a:ln w="50800">
            <a:solidFill>
              <a:srgbClr val="E8B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2359152" y="1188720"/>
            <a:ext cx="246887" cy="246888"/>
          </a:xfrm>
          <a:prstGeom prst="line">
            <a:avLst/>
          </a:prstGeom>
          <a:ln w="50800">
            <a:solidFill>
              <a:srgbClr val="E8B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880360" y="832104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0" i="0">
                <a:solidFill>
                  <a:srgbClr val="F2EDE4"/>
                </a:solidFill>
                <a:latin typeface="Georgia"/>
              </a:rPr>
              <a:t>qupuy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63440" y="996696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1">
                <a:solidFill>
                  <a:srgbClr val="A89D90"/>
                </a:solidFill>
                <a:latin typeface="Segoe UI"/>
              </a:rPr>
              <a:t>v. dar a otro; pagar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1828800"/>
            <a:ext cx="82296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200" b="0" i="0">
                <a:solidFill>
                  <a:srgbClr val="F2EDE4"/>
                </a:solidFill>
                <a:latin typeface="Georgia"/>
              </a:rPr>
              <a:t>Aprende.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200" b="0" i="0">
                <a:solidFill>
                  <a:srgbClr val="F2EDE4"/>
                </a:solidFill>
                <a:latin typeface="Georgia"/>
              </a:rPr>
              <a:t>Termina.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200" b="0" i="0">
                <a:solidFill>
                  <a:srgbClr val="D4463C"/>
                </a:solidFill>
                <a:latin typeface="Georgia"/>
              </a:rPr>
              <a:t>Pásalo.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" y="4892040"/>
            <a:ext cx="74980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 i="0">
                <a:solidFill>
                  <a:srgbClr val="F2EDE4"/>
                </a:solidFill>
                <a:latin typeface="Segoe UI"/>
              </a:rPr>
              <a:t>Cursos de creadores bolivianos donde el acceso es tuyo — y cuando terminas, se lo pasas a alguien, como se presta un libro.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520" y="5806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89D90"/>
                </a:solidFill>
                <a:latin typeface="Segoe UI"/>
              </a:rPr>
              <a:t>ETH Bolivia Buildathon 2026 · Cochabamba      Unlock Protocol · Bounty 2 · Portal de contenido token-gated      qupuy.vercel.app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1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3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016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5448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0078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2024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9456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4086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8094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2102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6110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118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2064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9496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4126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6072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512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2142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4088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6150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8096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5528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0158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2104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9536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4166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61119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23544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8174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01199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875519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02182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241279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515599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661903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881359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155679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301983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521439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795759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942063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2161519" y="0"/>
            <a:ext cx="30175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el problema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02 / 11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685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Segoe UI"/>
              </a:rPr>
              <a:t>E L   P R O B L E M 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1005840"/>
            <a:ext cx="10241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0" i="0">
                <a:solidFill>
                  <a:srgbClr val="F2EDE4"/>
                </a:solidFill>
                <a:latin typeface="Georgia"/>
              </a:rPr>
              <a:t>En Bolivia, un creador no tiene forma de cobrar por internet.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" y="2697480"/>
            <a:ext cx="3423818" cy="2331720"/>
          </a:xfrm>
          <a:prstGeom prst="rect">
            <a:avLst/>
          </a:prstGeom>
          <a:noFill/>
          <a:ln w="9525">
            <a:solidFill>
              <a:srgbClr val="3B3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0120" y="2898648"/>
            <a:ext cx="29666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Segoe UI"/>
              </a:rPr>
              <a:t>U N   H E C H O ,   N O   U N A   E X A G E R A C I Ó 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120" y="3246120"/>
            <a:ext cx="2966618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F2EDE4"/>
                </a:solidFill>
                <a:latin typeface="Segoe UI"/>
              </a:rPr>
              <a:t>Bolivia es el único país de Latinoamérica sin PayPal.</a:t>
            </a:r>
            <a:r>
              <a:rPr sz="1350" b="0" i="0">
                <a:solidFill>
                  <a:srgbClr val="CFC6B8"/>
                </a:solidFill>
                <a:latin typeface="Segoe UI"/>
              </a:rPr>
              <a:t> MercadoPago opera en toda la región salvo Ecuador, Bolivia y Venezuela.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83938" y="2697480"/>
            <a:ext cx="3423818" cy="2331720"/>
          </a:xfrm>
          <a:prstGeom prst="rect">
            <a:avLst/>
          </a:prstGeom>
          <a:noFill/>
          <a:ln w="9525">
            <a:solidFill>
              <a:srgbClr val="3B3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612538" y="2898648"/>
            <a:ext cx="29666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Segoe UI"/>
              </a:rPr>
              <a:t>U N   P R O F E S O R   D E   I N G L É S   E N   C O C H A B A M B 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12538" y="3246120"/>
            <a:ext cx="2966618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CFC6B8"/>
                </a:solidFill>
                <a:latin typeface="Segoe UI"/>
              </a:rPr>
              <a:t>Udemy paga por PayPal. Hotmart exige una cuenta que reciba dólares. Teachable usa Stripe, que no opera aquí.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36356" y="2697480"/>
            <a:ext cx="3423818" cy="2331720"/>
          </a:xfrm>
          <a:prstGeom prst="rect">
            <a:avLst/>
          </a:prstGeom>
          <a:noFill/>
          <a:ln w="15875">
            <a:solidFill>
              <a:srgbClr val="D44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64956" y="2898648"/>
            <a:ext cx="29666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D4463C"/>
                </a:solidFill>
                <a:latin typeface="Segoe UI"/>
              </a:rPr>
              <a:t>S U   Ú N I C A   S A L I D A   R E A 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64956" y="3246120"/>
            <a:ext cx="2966618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CFC6B8"/>
                </a:solidFill>
                <a:latin typeface="Segoe UI"/>
              </a:rPr>
              <a:t>Vende por WhatsApp, cobra por QR y manda un enlace de Drive. Tres días después el enlace circula en cinco grupos: </a:t>
            </a:r>
            <a:r>
              <a:rPr sz="1350" b="1" i="0">
                <a:solidFill>
                  <a:srgbClr val="F2EDE4"/>
                </a:solidFill>
                <a:latin typeface="Segoe UI"/>
              </a:rPr>
              <a:t>vendió veinte accesos y lo ven doscientas personas.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20" y="53492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CFC6B8"/>
                </a:solidFill>
                <a:latin typeface="Segoe UI"/>
              </a:rPr>
              <a:t>El problema no es que falte blockchain. Es que no tiene forma de cobrar por un acceso — y de que ese acceso signifique algo.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3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016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5448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0078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2024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9456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4086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8094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2102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6110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118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2064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9496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4126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6072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512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2142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4088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6150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8096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5528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0158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2104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9536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4166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6111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23544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8174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0119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875519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02182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24127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515599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661903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88135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155679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301983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52143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795759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942063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2161519" y="0"/>
            <a:ext cx="30175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la idea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03 / 11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685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Segoe UI"/>
              </a:rPr>
              <a:t>L A   I D E 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100584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0" i="0">
                <a:solidFill>
                  <a:srgbClr val="F2EDE4"/>
                </a:solidFill>
                <a:latin typeface="Georgia"/>
              </a:rPr>
              <a:t>El acceso es un objeto que el alumno </a:t>
            </a:r>
            <a:r>
              <a:rPr sz="4400" b="0" i="0">
                <a:solidFill>
                  <a:srgbClr val="D4463C"/>
                </a:solidFill>
                <a:latin typeface="Georgia"/>
              </a:rPr>
              <a:t>posee</a:t>
            </a:r>
            <a:r>
              <a:rPr sz="4400" b="0" i="0">
                <a:solidFill>
                  <a:srgbClr val="F2EDE4"/>
                </a:solidFill>
                <a:latin typeface="Georgia"/>
              </a:rPr>
              <a:t>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2743200"/>
            <a:ext cx="33933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F2EDE4"/>
                </a:solidFill>
                <a:latin typeface="Georgia"/>
              </a:rPr>
              <a:t>Unlock resuelve el cobro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" y="3474720"/>
            <a:ext cx="3393338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CFC6B8"/>
                </a:solidFill>
                <a:latin typeface="Segoe UI"/>
              </a:rPr>
              <a:t>Cada curso tiene un Lock. Comprar la membresía es una transacción; el alumno recibe una key: un NFT con fecha de vencimiento.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99178" y="2743200"/>
            <a:ext cx="33933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F2EDE4"/>
                </a:solidFill>
                <a:latin typeface="Georgia"/>
              </a:rPr>
              <a:t>Y la key tiene algo que web2 no puede ofrecer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99178" y="3474720"/>
            <a:ext cx="3393338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CFC6B8"/>
                </a:solidFill>
                <a:latin typeface="Segoe UI"/>
              </a:rPr>
              <a:t>Es un objeto. </a:t>
            </a:r>
            <a:r>
              <a:rPr sz="1450" b="1" i="0">
                <a:solidFill>
                  <a:srgbClr val="F2EDE4"/>
                </a:solidFill>
                <a:latin typeface="Segoe UI"/>
              </a:rPr>
              <a:t>Solo una persona lo tiene a la vez.</a:t>
            </a:r>
            <a:r>
              <a:rPr sz="1450" b="0" i="0">
                <a:solidFill>
                  <a:srgbClr val="CFC6B8"/>
                </a:solidFill>
                <a:latin typeface="Segoe UI"/>
              </a:rPr>
              <a:t> Se puede prestar, regalar y recuperar, y cada movimiento queda registrado.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66836" y="2743200"/>
            <a:ext cx="33933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F2EDE4"/>
                </a:solidFill>
                <a:latin typeface="Georgia"/>
              </a:rPr>
              <a:t>Como un libro de texto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66836" y="3474720"/>
            <a:ext cx="3393338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CFC6B8"/>
                </a:solidFill>
                <a:latin typeface="Segoe UI"/>
              </a:rPr>
              <a:t>En Bolivia los libros se heredan entre hermanos. Esto es lo mismo, digital — e imposible en Udemy, donde “prestar” un curso es entregar tu cuenta.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1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3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016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5448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0078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2024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9456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4086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8094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2102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6110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118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2064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9496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4126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6072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512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2142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4088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6150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8096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5528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0158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2104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9536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4166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61119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23544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8174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01199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875519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02182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241279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515599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661903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881359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155679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301983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521439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795759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942063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2161519" y="0"/>
            <a:ext cx="30175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cómo funciona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04 / 11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685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Segoe UI"/>
              </a:rPr>
              <a:t>C Ó M O   F U N C I O N 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100584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0" i="0">
                <a:solidFill>
                  <a:srgbClr val="F2EDE4"/>
                </a:solidFill>
                <a:latin typeface="Georgia"/>
              </a:rPr>
              <a:t>Cinco pasos. El tercero lo decide el contrato, no la aplicación.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" y="2743200"/>
            <a:ext cx="1862267" cy="27432"/>
          </a:xfrm>
          <a:prstGeom prst="rect">
            <a:avLst/>
          </a:prstGeom>
          <a:solidFill>
            <a:srgbClr val="3B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" y="2907792"/>
            <a:ext cx="18622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2EDE4"/>
                </a:solidFill>
                <a:latin typeface="Georgia"/>
              </a:rPr>
              <a:t>Descubrir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3429000"/>
            <a:ext cx="186226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CFC6B8"/>
                </a:solidFill>
                <a:latin typeface="Segoe UI"/>
              </a:rPr>
              <a:t>Catálogo con precio en Bs, duración y creador.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913827" y="2743200"/>
            <a:ext cx="1862267" cy="27432"/>
          </a:xfrm>
          <a:prstGeom prst="rect">
            <a:avLst/>
          </a:prstGeom>
          <a:solidFill>
            <a:srgbClr val="3B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13827" y="2907792"/>
            <a:ext cx="18622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2EDE4"/>
                </a:solidFill>
                <a:latin typeface="Georgia"/>
              </a:rPr>
              <a:t>Previsualizar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13827" y="3429000"/>
            <a:ext cx="186226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CFC6B8"/>
                </a:solidFill>
                <a:latin typeface="Segoe UI"/>
              </a:rPr>
              <a:t>La primera clase es libre, sin wallet. El resto, con candado.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96134" y="2743200"/>
            <a:ext cx="1862267" cy="27432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96134" y="2907792"/>
            <a:ext cx="18622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2EDE4"/>
                </a:solidFill>
                <a:latin typeface="Georgia"/>
              </a:rPr>
              <a:t>Verificar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96134" y="3429000"/>
            <a:ext cx="186226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CFC6B8"/>
                </a:solidFill>
                <a:latin typeface="Segoe UI"/>
              </a:rPr>
              <a:t>La app pregunta al Lock: getHasValidKey. Ese true o false es todo.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278441" y="2743200"/>
            <a:ext cx="1862267" cy="27432"/>
          </a:xfrm>
          <a:prstGeom prst="rect">
            <a:avLst/>
          </a:prstGeom>
          <a:solidFill>
            <a:srgbClr val="3B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278441" y="2907792"/>
            <a:ext cx="18622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2EDE4"/>
                </a:solidFill>
                <a:latin typeface="Georgia"/>
              </a:rPr>
              <a:t>Desbloquear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78441" y="3429000"/>
            <a:ext cx="186226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CFC6B8"/>
                </a:solidFill>
                <a:latin typeface="Segoe UI"/>
              </a:rPr>
              <a:t>Compra en una transacción. El contenido aparece sin recargar.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460748" y="2743200"/>
            <a:ext cx="1862267" cy="27432"/>
          </a:xfrm>
          <a:prstGeom prst="rect">
            <a:avLst/>
          </a:prstGeom>
          <a:solidFill>
            <a:srgbClr val="3B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460748" y="2907792"/>
            <a:ext cx="18622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2EDE4"/>
                </a:solidFill>
                <a:latin typeface="Georgia"/>
              </a:rPr>
              <a:t>Contenido completo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460748" y="3429000"/>
            <a:ext cx="186226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CFC6B8"/>
                </a:solidFill>
                <a:latin typeface="Segoe UI"/>
              </a:rPr>
              <a:t>Las clases de pago las entrega el servidor, solo tras consultar el contrato.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" y="51206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CFC6B8"/>
                </a:solidFill>
                <a:latin typeface="Segoe UI"/>
              </a:rPr>
              <a:t>Sin membresía válida, las URLs de las clases de pago </a:t>
            </a:r>
            <a:r>
              <a:rPr sz="1500" b="1" i="0">
                <a:solidFill>
                  <a:srgbClr val="F2EDE4"/>
                </a:solidFill>
                <a:latin typeface="Segoe UI"/>
              </a:rPr>
              <a:t>ni siquiera viajan en la página</a:t>
            </a:r>
            <a:r>
              <a:rPr sz="1500" b="0" i="0">
                <a:solidFill>
                  <a:srgbClr val="CFC6B8"/>
                </a:solidFill>
                <a:latin typeface="Segoe UI"/>
              </a:rPr>
              <a:t>: el servidor las quita y las entrega únicamente cuando el Lock dice que hay acceso.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3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016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5448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0078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2024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9456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4086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8094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2102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6110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118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2064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9496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4126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6072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512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2142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4088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6150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8096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5528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0158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2104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9536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4166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6111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23544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8174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0119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875519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02182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24127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515599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661903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88135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155679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301983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52143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795759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942063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2161519" y="0"/>
            <a:ext cx="30175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prestar · regalar · recuperar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05 / 11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685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D4463C"/>
                </a:solidFill>
                <a:latin typeface="Segoe UI"/>
              </a:rPr>
              <a:t>L O   Q U E   N I N G U N A   P L A T A F O R M A   P E R M I T 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100584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800" b="0" i="0">
                <a:solidFill>
                  <a:srgbClr val="F2EDE4"/>
                </a:solidFill>
                <a:latin typeface="Georgia"/>
              </a:rPr>
              <a:t>Prestar. Regalar. </a:t>
            </a:r>
            <a:r>
              <a:rPr sz="4800" b="0" i="0">
                <a:solidFill>
                  <a:srgbClr val="D4463C"/>
                </a:solidFill>
                <a:latin typeface="Georgia"/>
              </a:rPr>
              <a:t>Recuperar.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" y="2377440"/>
            <a:ext cx="3423818" cy="2926080"/>
          </a:xfrm>
          <a:prstGeom prst="rect">
            <a:avLst/>
          </a:prstGeom>
          <a:noFill/>
          <a:ln w="15875">
            <a:solidFill>
              <a:srgbClr val="D44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0120" y="2578608"/>
            <a:ext cx="29666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D4463C"/>
                </a:solidFill>
                <a:latin typeface="Segoe UI"/>
              </a:rPr>
              <a:t>P R E S T A 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120" y="2926080"/>
            <a:ext cx="29666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F2EDE4"/>
                </a:solidFill>
                <a:latin typeface="Georgia"/>
              </a:rPr>
              <a:t>Como un libro: vuelve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0120" y="3383280"/>
            <a:ext cx="296661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CFC6B8"/>
                </a:solidFill>
                <a:latin typeface="Segoe UI"/>
              </a:rPr>
              <a:t>Le pasas el acceso a alguien y </a:t>
            </a:r>
            <a:r>
              <a:rPr sz="1350" b="1" i="0">
                <a:solidFill>
                  <a:srgbClr val="F2EDE4"/>
                </a:solidFill>
                <a:latin typeface="Segoe UI"/>
              </a:rPr>
              <a:t>tú sigues mandando</a:t>
            </a:r>
            <a:r>
              <a:rPr sz="1350" b="0" i="0">
                <a:solidFill>
                  <a:srgbClr val="CFC6B8"/>
                </a:solidFill>
                <a:latin typeface="Segoe UI"/>
              </a:rPr>
              <a:t> sobre esa key. La otra persona lo usa, pero no puede pasarlo a nadie. Cuando quieras, lo recuperas.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0120" y="4892040"/>
            <a:ext cx="29666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lendKey · unlendKey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83938" y="2377440"/>
            <a:ext cx="3423818" cy="2926080"/>
          </a:xfrm>
          <a:prstGeom prst="rect">
            <a:avLst/>
          </a:prstGeom>
          <a:noFill/>
          <a:ln w="9525">
            <a:solidFill>
              <a:srgbClr val="3B3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12538" y="2578608"/>
            <a:ext cx="29666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Segoe UI"/>
              </a:rPr>
              <a:t>R E G A L A 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12538" y="2926080"/>
            <a:ext cx="29666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F2EDE4"/>
                </a:solidFill>
                <a:latin typeface="Georgia"/>
              </a:rPr>
              <a:t>Definitivo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12538" y="3383280"/>
            <a:ext cx="296661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CFC6B8"/>
                </a:solidFill>
                <a:latin typeface="Segoe UI"/>
              </a:rPr>
              <a:t>La key pasa a ser suya del todo. Puede terminar el curso y volver a pasarlo. La cadena sigue.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12538" y="4892040"/>
            <a:ext cx="29666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transferFrom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36356" y="2377440"/>
            <a:ext cx="3423818" cy="2926080"/>
          </a:xfrm>
          <a:prstGeom prst="rect">
            <a:avLst/>
          </a:prstGeom>
          <a:noFill/>
          <a:ln w="9525">
            <a:solidFill>
              <a:srgbClr val="3B3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64956" y="2578608"/>
            <a:ext cx="29666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Segoe UI"/>
              </a:rPr>
              <a:t>S I E M P R 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64956" y="2926080"/>
            <a:ext cx="29666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F2EDE4"/>
                </a:solidFill>
                <a:latin typeface="Georgia"/>
              </a:rPr>
              <a:t>Solo uno a la vez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64956" y="3383280"/>
            <a:ext cx="296661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CFC6B8"/>
                </a:solidFill>
                <a:latin typeface="Segoe UI"/>
              </a:rPr>
              <a:t>Quien entrega, pierde el acceso en el acto. No hay “compartir contraseña”: hay un objeto que cambia de manos.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64956" y="4892040"/>
            <a:ext cx="29666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una key, un dueño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" y="55778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CFC6B8"/>
                </a:solidFill>
                <a:latin typeface="Segoe UI"/>
              </a:rPr>
              <a:t>“Como se presta un libro” deja de ser una metáfora: es una operación del protocolo, y una que casi nadie usa.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1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3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016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5448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0078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2024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9456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4086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8094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2102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6110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118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2064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9496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4126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6072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512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2142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4088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6150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8096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5528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0158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2104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9536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4166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61119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23544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8174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01199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875519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02182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241279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515599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661903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881359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155679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301983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521439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795759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942063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2161519" y="0"/>
            <a:ext cx="30175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el linaje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06 / 11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685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Segoe UI"/>
              </a:rPr>
              <a:t>E L   L I N A J 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800" b="0" i="0">
                <a:solidFill>
                  <a:srgbClr val="F2EDE4"/>
                </a:solidFill>
                <a:latin typeface="Georgia"/>
              </a:rPr>
              <a:t>Ya pasó por </a:t>
            </a:r>
            <a:r>
              <a:rPr sz="4800" b="0" i="0">
                <a:solidFill>
                  <a:srgbClr val="D4463C"/>
                </a:solidFill>
                <a:latin typeface="Georgia"/>
              </a:rPr>
              <a:t>dos manos</a:t>
            </a:r>
            <a:r>
              <a:rPr sz="4800" b="0" i="0">
                <a:solidFill>
                  <a:srgbClr val="F2EDE4"/>
                </a:solidFill>
                <a:latin typeface="Georgia"/>
              </a:rPr>
              <a:t>.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832104" y="2615184"/>
            <a:ext cx="7132319" cy="0"/>
          </a:xfrm>
          <a:prstGeom prst="line">
            <a:avLst/>
          </a:prstGeom>
          <a:ln w="25400">
            <a:solidFill>
              <a:srgbClr val="3B3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731520" y="2514600"/>
            <a:ext cx="201168" cy="201168"/>
          </a:xfrm>
          <a:prstGeom prst="ellipse">
            <a:avLst/>
          </a:prstGeom>
          <a:solidFill>
            <a:srgbClr val="221B16"/>
          </a:solidFill>
          <a:ln w="31750">
            <a:solidFill>
              <a:srgbClr val="A89D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28803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F2EDE4"/>
                </a:solidFill>
                <a:latin typeface="Georgia"/>
              </a:rPr>
              <a:t>María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33832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89D90"/>
                </a:solidFill>
                <a:latin typeface="Segoe UI"/>
              </a:rPr>
              <a:t>Compra el curso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372160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compra · Bs 70 · 30 días</a:t>
            </a:r>
          </a:p>
        </p:txBody>
      </p:sp>
      <p:sp>
        <p:nvSpPr>
          <p:cNvPr id="69" name="Oval 68"/>
          <p:cNvSpPr/>
          <p:nvPr/>
        </p:nvSpPr>
        <p:spPr>
          <a:xfrm>
            <a:off x="4297680" y="2514600"/>
            <a:ext cx="201168" cy="201168"/>
          </a:xfrm>
          <a:prstGeom prst="ellipse">
            <a:avLst/>
          </a:prstGeom>
          <a:solidFill>
            <a:srgbClr val="E8B04B"/>
          </a:solidFill>
          <a:ln w="317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97680" y="28803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F2EDE4"/>
                </a:solidFill>
                <a:latin typeface="Georgia"/>
              </a:rPr>
              <a:t>Su hermana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97680" y="33832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89D90"/>
                </a:solidFill>
                <a:latin typeface="Segoe UI"/>
              </a:rPr>
              <a:t>Recibe el acceso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97680" y="372160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María ya terminó</a:t>
            </a:r>
          </a:p>
        </p:txBody>
      </p:sp>
      <p:sp>
        <p:nvSpPr>
          <p:cNvPr id="73" name="Oval 72"/>
          <p:cNvSpPr/>
          <p:nvPr/>
        </p:nvSpPr>
        <p:spPr>
          <a:xfrm>
            <a:off x="7863840" y="2514600"/>
            <a:ext cx="201168" cy="201168"/>
          </a:xfrm>
          <a:prstGeom prst="ellipse">
            <a:avLst/>
          </a:prstGeom>
          <a:solidFill>
            <a:srgbClr val="D4463C"/>
          </a:solidFill>
          <a:ln w="31750">
            <a:solidFill>
              <a:srgbClr val="D44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63840" y="28803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F2EDE4"/>
                </a:solidFill>
                <a:latin typeface="Georgia"/>
              </a:rPr>
              <a:t>Un vecino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63840" y="33832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89D90"/>
                </a:solidFill>
                <a:latin typeface="Segoe UI"/>
              </a:rPr>
              <a:t>Recibe el acceso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63840" y="372160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y sigue circulando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520" y="4480560"/>
            <a:ext cx="513572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CFC6B8"/>
                </a:solidFill>
                <a:latin typeface="Segoe UI"/>
              </a:rPr>
              <a:t>Cada paso es un evento Transfer del Lock. Qupuy los lee y reconstruye la historia completa de un acceso: quién lo compró y por qué manos ha pasado.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24447" y="4480560"/>
            <a:ext cx="513572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2EDE4"/>
                </a:solidFill>
                <a:latin typeface="Segoe UI"/>
              </a:rPr>
              <a:t>Udemy no sabe a quién le prestaste tu cuenta</a:t>
            </a:r>
            <a:r>
              <a:rPr sz="1450" b="0" i="0">
                <a:solidFill>
                  <a:srgbClr val="CFC6B8"/>
                </a:solidFill>
                <a:latin typeface="Segoe UI"/>
              </a:rPr>
              <a:t>, porque prestar allí es compartir una contraseña. Aquí cada mano es pública y verificable — y quien todavía no compró ve cuánto circula el curso.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3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016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5448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0078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2024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9456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4086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8094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2102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6110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118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2064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9496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4126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6072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512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2142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4088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6150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8096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5528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0158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2104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9536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4166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6111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23544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8174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0119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875519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02182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24127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515599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661903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88135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155679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301983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52143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795759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942063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2161519" y="0"/>
            <a:ext cx="30175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dos pantallas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07 / 11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685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Segoe UI"/>
              </a:rPr>
              <a:t>D O S   P E R S O N A S ,   J U N T A 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10058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600" b="0" i="0">
                <a:solidFill>
                  <a:srgbClr val="F2EDE4"/>
                </a:solidFill>
                <a:latin typeface="Georgia"/>
              </a:rPr>
              <a:t>Una muestra su código. La otra lo escanea. Y la primera pantalla </a:t>
            </a:r>
            <a:r>
              <a:rPr sz="3600" b="0" i="0">
                <a:solidFill>
                  <a:srgbClr val="D4463C"/>
                </a:solidFill>
                <a:latin typeface="Georgia"/>
              </a:rPr>
              <a:t>lo anuncia sola</a:t>
            </a:r>
            <a:r>
              <a:rPr sz="3600" b="0" i="0">
                <a:solidFill>
                  <a:srgbClr val="F2EDE4"/>
                </a:solidFill>
                <a:latin typeface="Georgia"/>
              </a:rPr>
              <a:t>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" y="2606040"/>
            <a:ext cx="5135727" cy="2788920"/>
          </a:xfrm>
          <a:prstGeom prst="rect">
            <a:avLst/>
          </a:prstGeom>
          <a:noFill/>
          <a:ln w="9525">
            <a:solidFill>
              <a:srgbClr val="3B3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31520" y="2990088"/>
            <a:ext cx="5135727" cy="10972"/>
          </a:xfrm>
          <a:prstGeom prst="rect">
            <a:avLst/>
          </a:prstGeom>
          <a:solidFill>
            <a:srgbClr val="3B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4400" y="2706624"/>
            <a:ext cx="47699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qupuy.vercel.app/recibir · quien recibe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0120" y="3200400"/>
            <a:ext cx="914400" cy="914400"/>
          </a:xfrm>
          <a:prstGeom prst="rect">
            <a:avLst/>
          </a:prstGeom>
          <a:solidFill>
            <a:srgbClr val="F2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7280" y="333756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88720" y="333756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371600" y="333756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463040" y="333756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645920" y="333756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97280" y="342900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80160" y="342900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554480" y="342900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645920" y="342900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97280" y="352044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188720" y="352044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371600" y="352044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463040" y="352044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554480" y="352044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280160" y="361188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371600" y="361188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645920" y="361188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97280" y="370332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188720" y="370332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280160" y="370332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463040" y="370332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645920" y="370332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97280" y="379476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463040" y="379476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554480" y="379476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97280" y="388620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280160" y="388620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371600" y="388620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554480" y="388620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645920" y="3886200"/>
            <a:ext cx="91440" cy="914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148840" y="3200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Segoe UI"/>
              </a:rPr>
              <a:t>T U   D I R E C C I Ó 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48840" y="3520440"/>
            <a:ext cx="34898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CFC6B8"/>
                </a:solidFill>
                <a:latin typeface="Consolas"/>
              </a:rPr>
              <a:t>0xa6fc1c38ebEbda6507272eaaD42033A1e0102e39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60120" y="4343400"/>
            <a:ext cx="4678527" cy="868680"/>
          </a:xfrm>
          <a:prstGeom prst="rect">
            <a:avLst/>
          </a:prstGeom>
          <a:noFill/>
          <a:ln w="12700">
            <a:solidFill>
              <a:srgbClr val="D44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43000" y="44622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D4463C"/>
                </a:solidFill>
                <a:latin typeface="Segoe UI"/>
              </a:rPr>
              <a:t>A C A B A   D E   L L E G A 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43000" y="4754880"/>
            <a:ext cx="43127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F2EDE4"/>
                </a:solidFill>
                <a:latin typeface="Segoe UI"/>
              </a:rPr>
              <a:t>¡Recibiste Reparación de celulares!</a:t>
            </a:r>
            <a:r>
              <a:rPr sz="1350" b="0" i="0">
                <a:solidFill>
                  <a:srgbClr val="CFC6B8"/>
                </a:solidFill>
                <a:latin typeface="Segoe UI"/>
              </a:rPr>
              <a:t>   Ver el curso →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324447" y="2606040"/>
            <a:ext cx="5135727" cy="2788920"/>
          </a:xfrm>
          <a:prstGeom prst="rect">
            <a:avLst/>
          </a:prstGeom>
          <a:noFill/>
          <a:ln w="9525">
            <a:solidFill>
              <a:srgbClr val="3B3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324447" y="2990088"/>
            <a:ext cx="5135727" cy="10972"/>
          </a:xfrm>
          <a:prstGeom prst="rect">
            <a:avLst/>
          </a:prstGeom>
          <a:solidFill>
            <a:srgbClr val="3B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507327" y="2706624"/>
            <a:ext cx="47699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/curso/reparacion-celulares · quien pasa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553047" y="3200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Segoe UI"/>
              </a:rPr>
              <a:t>P A S A R   T U   A C C E S 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553047" y="3520440"/>
            <a:ext cx="46785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F2EDE4"/>
                </a:solidFill>
                <a:latin typeface="Segoe UI"/>
              </a:rPr>
              <a:t>Prestar</a:t>
            </a:r>
            <a:r>
              <a:rPr sz="1350" b="0" i="0">
                <a:solidFill>
                  <a:srgbClr val="CFC6B8"/>
                </a:solidFill>
                <a:latin typeface="Segoe UI"/>
              </a:rPr>
              <a:t> · lo recuperas cuando quieras     Regalar · definitivo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553047" y="4023360"/>
            <a:ext cx="46785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A89D90"/>
                </a:solidFill>
                <a:latin typeface="Segoe UI"/>
              </a:rPr>
              <a:t>¿A quién se lo pasas? — Escanear su código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553047" y="4663440"/>
            <a:ext cx="46785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tras la firma: Sin acceso · Ya circuló una vez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31520" y="55778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CFC6B8"/>
                </a:solidFill>
                <a:latin typeface="Segoe UI"/>
              </a:rPr>
              <a:t>Pedirle a alguien que dicte una dirección rompe el caso real. La pantalla del receptor consulta el Lock cada tres segundos: “solo uno a la vez” se ve, no se cuenta.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1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3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016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5448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0078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2024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9456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4086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8094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2102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6110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118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2064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9496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4126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6072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512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2142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4088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6150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8096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5528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0158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2104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9536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4166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61119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23544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8174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01199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875519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02182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241279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515599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661903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881359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155679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301983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521439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795759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942063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2161519" y="0"/>
            <a:ext cx="30175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integración con unlock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08 / 11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685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Segoe UI"/>
              </a:rPr>
              <a:t>C Ó M O   E S T Á   H E C H 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10058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800" b="0" i="0">
                <a:solidFill>
                  <a:srgbClr val="F2EDE4"/>
                </a:solidFill>
                <a:latin typeface="Georgia"/>
              </a:rPr>
              <a:t>Cero Solidity propio. El </a:t>
            </a:r>
            <a:r>
              <a:rPr sz="3400" b="0" i="0">
                <a:solidFill>
                  <a:srgbClr val="F2EDE4"/>
                </a:solidFill>
                <a:latin typeface="Consolas"/>
              </a:rPr>
              <a:t>PublicLock v14</a:t>
            </a:r>
            <a:r>
              <a:rPr sz="3800" b="0" i="0">
                <a:solidFill>
                  <a:srgbClr val="F2EDE4"/>
                </a:solidFill>
                <a:latin typeface="Georgia"/>
              </a:rPr>
              <a:t> ya lo tiene todo.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228600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Segoe UI"/>
              </a:rPr>
              <a:t>F U N C I Ó N   D E L   L O C 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80559" y="2286000"/>
            <a:ext cx="69796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Segoe UI"/>
              </a:rPr>
              <a:t>P A R A   Q U É   L A   U S A   Q U P U 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" y="2615184"/>
            <a:ext cx="10728655" cy="10972"/>
          </a:xfrm>
          <a:prstGeom prst="rect">
            <a:avLst/>
          </a:prstGeom>
          <a:solidFill>
            <a:srgbClr val="3B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2724912"/>
            <a:ext cx="36118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F2EDE4"/>
                </a:solidFill>
                <a:latin typeface="Consolas"/>
              </a:rPr>
              <a:t>getHasValidKey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80559" y="2724912"/>
            <a:ext cx="6842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CFC6B8"/>
                </a:solidFill>
                <a:latin typeface="Segoe UI"/>
              </a:rPr>
              <a:t>Decidir el acceso, en el cliente y en el servidor. Comprueba la expiración y ejecuta los hooks de validez.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1520" y="3273552"/>
            <a:ext cx="10728655" cy="10972"/>
          </a:xfrm>
          <a:prstGeom prst="rect">
            <a:avLst/>
          </a:prstGeom>
          <a:solidFill>
            <a:srgbClr val="3B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3383280"/>
            <a:ext cx="36118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F2EDE4"/>
                </a:solidFill>
                <a:latin typeface="Consolas"/>
              </a:rPr>
              <a:t>totalKeys · tokenOfOwnerByIndex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80559" y="3383280"/>
            <a:ext cx="684245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CFC6B8"/>
                </a:solidFill>
                <a:latin typeface="Segoe UI"/>
              </a:rPr>
              <a:t>Llegar al tokenId de una membresía, vigente o vencida.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31520" y="3703320"/>
            <a:ext cx="10728655" cy="10972"/>
          </a:xfrm>
          <a:prstGeom prst="rect">
            <a:avLst/>
          </a:prstGeom>
          <a:solidFill>
            <a:srgbClr val="3B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3813048"/>
            <a:ext cx="36118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F2EDE4"/>
                </a:solidFill>
                <a:latin typeface="Consolas"/>
              </a:rPr>
              <a:t>purchase · extend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80559" y="3813048"/>
            <a:ext cx="684245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CFC6B8"/>
                </a:solidFill>
                <a:latin typeface="Segoe UI"/>
              </a:rPr>
              <a:t>Comprar, y renovar cuando venció — Unlock rechaza un segundo purchase.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31520" y="4133087"/>
            <a:ext cx="10728655" cy="10972"/>
          </a:xfrm>
          <a:prstGeom prst="rect">
            <a:avLst/>
          </a:prstGeom>
          <a:solidFill>
            <a:srgbClr val="3B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1520" y="4242816"/>
            <a:ext cx="36118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F2EDE4"/>
                </a:solidFill>
                <a:latin typeface="Consolas"/>
              </a:rPr>
              <a:t>transferFrom · lendKey · unlendKey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80559" y="4242816"/>
            <a:ext cx="684245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CFC6B8"/>
                </a:solidFill>
                <a:latin typeface="Segoe UI"/>
              </a:rPr>
              <a:t>Regalar, prestar y recuperar. keyManagerOf distingue un préstamo.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31520" y="4562855"/>
            <a:ext cx="10728655" cy="10972"/>
          </a:xfrm>
          <a:prstGeom prst="rect">
            <a:avLst/>
          </a:prstGeom>
          <a:solidFill>
            <a:srgbClr val="3B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1520" y="4672583"/>
            <a:ext cx="36118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F2EDE4"/>
                </a:solidFill>
                <a:latin typeface="Consolas"/>
              </a:rPr>
              <a:t>evento Transfer · totalSupply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80559" y="4672583"/>
            <a:ext cx="684245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CFC6B8"/>
                </a:solidFill>
                <a:latin typeface="Segoe UI"/>
              </a:rPr>
              <a:t>El linaje y los accesos vendidos.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992623"/>
            <a:ext cx="10728655" cy="10972"/>
          </a:xfrm>
          <a:prstGeom prst="rect">
            <a:avLst/>
          </a:prstGeom>
          <a:solidFill>
            <a:srgbClr val="3B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5266943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2EDE4"/>
                </a:solidFill>
                <a:latin typeface="Segoe UI"/>
              </a:rPr>
              <a:t>Por qué no balanceOf: </a:t>
            </a:r>
            <a:r>
              <a:rPr sz="1400" b="0" i="0">
                <a:solidFill>
                  <a:srgbClr val="CFC6B8"/>
                </a:solidFill>
                <a:latin typeface="Segoe UI"/>
              </a:rPr>
              <a:t>su semántica ha cambiado entre versiones — en v14 solo cuenta keys válidas; antes contaba todas. getHasValidKey es el contrato explícito de “tiene acceso ahora” y no depende de la versión.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3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016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5448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0078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2024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9456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4086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8094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2102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6110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118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2064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9496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4126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6072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512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2142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4088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6150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8096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5528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0158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2104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9536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4166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6111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23544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8174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0119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875519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02182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24127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515599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661903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88135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155679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301983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52143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795759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942063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2161519" y="0"/>
            <a:ext cx="30175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verificado en cadena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09 / 11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685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Segoe UI"/>
              </a:rPr>
              <a:t>V E R I F I C A D O   E N   S E P O L I 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1051560"/>
            <a:ext cx="4572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600" b="1" i="0">
                <a:solidFill>
                  <a:srgbClr val="F2EDE4"/>
                </a:solidFill>
                <a:latin typeface="Georgia"/>
              </a:rPr>
              <a:t>98</a:t>
            </a:r>
            <a:r>
              <a:rPr sz="4000" b="0" i="0">
                <a:solidFill>
                  <a:srgbClr val="A89D90"/>
                </a:solidFill>
                <a:latin typeface="Georgia"/>
              </a:rPr>
              <a:t>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2697480"/>
            <a:ext cx="45720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CFC6B8"/>
                </a:solidFill>
                <a:latin typeface="Segoe UI"/>
              </a:rPr>
              <a:t>de cada venta se queda en el Lock del creador. La comisión de protocolo de Unlock es del 2 %. Hotmart cobra hasta 9,9 % más tarifa; Udemy, hasta 63 % en ventas orgánicas.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52159" y="109728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Segoe UI"/>
              </a:rPr>
              <a:t>Q U 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75520" y="1097280"/>
            <a:ext cx="1584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Segoe UI"/>
              </a:rPr>
              <a:t>B L O Q U 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52159" y="1426464"/>
            <a:ext cx="5608015" cy="10972"/>
          </a:xfrm>
          <a:prstGeom prst="rect">
            <a:avLst/>
          </a:prstGeom>
          <a:solidFill>
            <a:srgbClr val="3B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852159" y="1536192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CFC6B8"/>
                </a:solidFill>
                <a:latin typeface="Segoe UI"/>
              </a:rPr>
              <a:t>Compra de “Inglés desde cero”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75520" y="1536192"/>
            <a:ext cx="14474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F2EDE4"/>
                </a:solidFill>
                <a:latin typeface="Consolas"/>
              </a:rPr>
              <a:t>11 691 183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52159" y="1856232"/>
            <a:ext cx="5608015" cy="10972"/>
          </a:xfrm>
          <a:prstGeom prst="rect">
            <a:avLst/>
          </a:prstGeom>
          <a:solidFill>
            <a:srgbClr val="3B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52159" y="1965960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CFC6B8"/>
                </a:solidFill>
                <a:latin typeface="Segoe UI"/>
              </a:rPr>
              <a:t>Compra de “Reparación de celulares”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75520" y="1965960"/>
            <a:ext cx="14474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F2EDE4"/>
                </a:solidFill>
                <a:latin typeface="Consolas"/>
              </a:rPr>
              <a:t>11 693 688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852159" y="2286000"/>
            <a:ext cx="5608015" cy="10972"/>
          </a:xfrm>
          <a:prstGeom prst="rect">
            <a:avLst/>
          </a:prstGeom>
          <a:solidFill>
            <a:srgbClr val="3B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852159" y="2395728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2EDE4"/>
                </a:solidFill>
                <a:latin typeface="Segoe UI"/>
              </a:rPr>
              <a:t>Transferencia del acceso, escaneando un QR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75520" y="2395728"/>
            <a:ext cx="14474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F2EDE4"/>
                </a:solidFill>
                <a:latin typeface="Consolas"/>
              </a:rPr>
              <a:t>11 694 004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852159" y="2715768"/>
            <a:ext cx="5608015" cy="10972"/>
          </a:xfrm>
          <a:prstGeom prst="rect">
            <a:avLst/>
          </a:prstGeom>
          <a:solidFill>
            <a:srgbClr val="3B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852159" y="2990088"/>
            <a:ext cx="56080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A89D90"/>
                </a:solidFill>
                <a:latin typeface="Segoe UI"/>
              </a:rPr>
              <a:t>Tres Locks desplegados · pago en ETH nativo · 30 días · transferibles. Tras la transferencia, getHasValidKey devuelve false para quien lo pasó y true para quien lo recibió.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89D90"/>
                </a:solidFill>
                <a:latin typeface="Segoe UI"/>
              </a:rPr>
              <a:t>Next.js 16 · wagmi · viem · Scaffold-ETH 2      23 tests de lógica · build y lint en verde      Auditoría contra el código fuente de PublicLockV14.sol, aplicada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1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3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016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5448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0078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2024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9456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4086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8094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2102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6110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118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2064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9496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4126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6072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512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2142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4088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6150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8096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5528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0158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21040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9536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4166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61119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235440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8174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01199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875519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021824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241279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515599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661903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881359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155679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301983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521439" y="0"/>
            <a:ext cx="274320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795759" y="0"/>
            <a:ext cx="146304" cy="64008"/>
          </a:xfrm>
          <a:prstGeom prst="rect">
            <a:avLst/>
          </a:prstGeom>
          <a:solidFill>
            <a:srgbClr val="736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942063" y="0"/>
            <a:ext cx="109728" cy="64008"/>
          </a:xfrm>
          <a:prstGeom prst="rect">
            <a:avLst/>
          </a:prstGeom>
          <a:solidFill>
            <a:srgbClr val="36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2161519" y="0"/>
            <a:ext cx="30175" cy="64008"/>
          </a:xfrm>
          <a:prstGeom prst="rect">
            <a:avLst/>
          </a:prstGeom>
          <a:solidFill>
            <a:srgbClr val="6A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lo que sigue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10 / 11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685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Segoe UI"/>
              </a:rPr>
              <a:t>L O   Q U E   S I G U 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0" i="0">
                <a:solidFill>
                  <a:srgbClr val="F2EDE4"/>
                </a:solidFill>
                <a:latin typeface="Georgia"/>
              </a:rPr>
              <a:t>Conocido, acotado, y sin cambiar la idea.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" y="2240280"/>
            <a:ext cx="3423818" cy="2834640"/>
          </a:xfrm>
          <a:prstGeom prst="rect">
            <a:avLst/>
          </a:prstGeom>
          <a:noFill/>
          <a:ln w="9525">
            <a:solidFill>
              <a:srgbClr val="3B3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0120" y="2441448"/>
            <a:ext cx="29666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Segoe UI"/>
              </a:rPr>
              <a:t>P R O D U C C I Ó 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120" y="2788920"/>
            <a:ext cx="29666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F2EDE4"/>
                </a:solidFill>
                <a:latin typeface="Georgia"/>
              </a:rPr>
              <a:t>Firma de wallet y URLs firmadas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0120" y="3246120"/>
            <a:ext cx="2966618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CFC6B8"/>
                </a:solidFill>
                <a:latin typeface="Segoe UI"/>
              </a:rPr>
              <a:t>Hoy el endpoint de clases confía en la dirección que se le indica. Con SIWE y URLs de expiración corta, el gating de servidor queda cerrado.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83938" y="2240280"/>
            <a:ext cx="3423818" cy="2834640"/>
          </a:xfrm>
          <a:prstGeom prst="rect">
            <a:avLst/>
          </a:prstGeom>
          <a:noFill/>
          <a:ln w="9525">
            <a:solidFill>
              <a:srgbClr val="3B3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12538" y="2441448"/>
            <a:ext cx="29666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Segoe UI"/>
              </a:rPr>
              <a:t>E L   O T R O   L A D 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12538" y="2788920"/>
            <a:ext cx="29666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F2EDE4"/>
                </a:solidFill>
                <a:latin typeface="Georgia"/>
              </a:rPr>
              <a:t>La profesora cobra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12538" y="3246120"/>
            <a:ext cx="2966618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CFC6B8"/>
                </a:solidFill>
                <a:latin typeface="Segoe UI"/>
              </a:rPr>
              <a:t>Un panel del creador con ventas, circulación y retiro (withdraw). El Lock ya guarda el dinero; falta la pantalla.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36356" y="2240280"/>
            <a:ext cx="3423818" cy="2834640"/>
          </a:xfrm>
          <a:prstGeom prst="rect">
            <a:avLst/>
          </a:prstGeom>
          <a:noFill/>
          <a:ln w="9525">
            <a:solidFill>
              <a:srgbClr val="3B3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64956" y="2441448"/>
            <a:ext cx="29666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Segoe UI"/>
              </a:rPr>
              <a:t>R E 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64956" y="2788920"/>
            <a:ext cx="29666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F2EDE4"/>
                </a:solidFill>
                <a:latin typeface="Georgia"/>
              </a:rPr>
              <a:t>De Sepolia a mainnet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64956" y="3246120"/>
            <a:ext cx="2966618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CFC6B8"/>
                </a:solidFill>
                <a:latin typeface="Segoe UI"/>
              </a:rPr>
              <a:t>Cambiar de red es añadir una entrada al registro de Locks, no reescribir la aplicación. Base o Avalanche C-Chain, donde Unlock ya opera.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" y="53949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CFC6B8"/>
                </a:solidFill>
                <a:latin typeface="Segoe UI"/>
              </a:rPr>
              <a:t>Lo que no cambia: el acceso es un objeto, lo decide el contrato, y se puede pasar.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3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016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5448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0078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2024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9456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4086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8094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2102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6110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118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2064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9496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4126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6072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512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2142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4088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6150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8096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5528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0158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21040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9536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4166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6111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235440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8174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0119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875519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021824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24127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515599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661903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88135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155679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301983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521439" y="0"/>
            <a:ext cx="274320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795759" y="0"/>
            <a:ext cx="146304" cy="6400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942063" y="0"/>
            <a:ext cx="109728" cy="64008"/>
          </a:xfrm>
          <a:prstGeom prst="rect">
            <a:avLst/>
          </a:prstGeom>
          <a:solidFill>
            <a:srgbClr val="4A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2161519" y="0"/>
            <a:ext cx="30175" cy="64008"/>
          </a:xfrm>
          <a:prstGeom prst="rect">
            <a:avLst/>
          </a:prstGeom>
          <a:solidFill>
            <a:srgbClr val="D4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gracias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A89D90"/>
                </a:solidFill>
                <a:latin typeface="Consolas"/>
              </a:rPr>
              <a:t>11 / 11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155448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200" b="0" i="0">
                <a:solidFill>
                  <a:srgbClr val="D4463C"/>
                </a:solidFill>
                <a:latin typeface="Georgia"/>
              </a:rPr>
              <a:t>Qupuy.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7200" b="0" i="0">
                <a:solidFill>
                  <a:srgbClr val="F2EDE4"/>
                </a:solidFill>
                <a:latin typeface="Georgia"/>
              </a:rPr>
              <a:t>Dar a otro; pagar.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420624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 i="0">
                <a:solidFill>
                  <a:srgbClr val="F2EDE4"/>
                </a:solidFill>
                <a:latin typeface="Segoe UI"/>
              </a:rPr>
              <a:t>Un acceso que compras una vez y puedes pasar cuando termines.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F2EDE4"/>
                </a:solidFill>
                <a:latin typeface="Consolas"/>
              </a:rPr>
              <a:t>qupuy.vercel.app</a:t>
            </a:r>
            <a:r>
              <a:rPr sz="1300" b="0" i="0">
                <a:solidFill>
                  <a:srgbClr val="CFC6B8"/>
                </a:solidFill>
                <a:latin typeface="Segoe UI"/>
              </a:rPr>
              <a:t>      </a:t>
            </a:r>
            <a:r>
              <a:rPr sz="1300" b="0" i="0">
                <a:solidFill>
                  <a:srgbClr val="F2EDE4"/>
                </a:solidFill>
                <a:latin typeface="Consolas"/>
              </a:rPr>
              <a:t>github.com/mirkovedia/qupuy</a:t>
            </a:r>
            <a:r>
              <a:rPr sz="1300" b="0" i="0">
                <a:solidFill>
                  <a:srgbClr val="A89D90"/>
                </a:solidFill>
                <a:latin typeface="Segoe UI"/>
              </a:rPr>
              <a:t>      Mirko Baron Vedia · Cochabamba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